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0"/>
            <a:ext cx="12191695" cy="7315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2A5F5"/>
                </a:solidFill>
                <a:latin typeface="Calibri"/>
              </a:defRPr>
            </a:pPr>
            <a:r>
              <a:t>CSCI218: Foundations of Artificial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Dry Bean Classification Using</a:t>
            </a:r>
            <a:br/>
            <a:r>
              <a:t>Machine Learning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2A5F5"/>
                </a:solidFill>
                <a:latin typeface="Calibri"/>
              </a:defRPr>
            </a:pPr>
            <a:r>
              <a:t>Group Project | SIM Session 1,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University of Wollongong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2A5F5"/>
                </a:solidFill>
                <a:latin typeface="Calibri"/>
              </a:defRPr>
            </a:pPr>
            <a:r>
              <a:t>School of Computing and Information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Group Members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1371600"/>
                <a:gridCol w="4572000"/>
              </a:tblGrid>
              <a:tr h="65314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Student Name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Student ID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Roles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Jasmine April Aulia Ng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[Student ID]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A, D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Problem Definition &amp; Dataset Description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Felix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[Student ID]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A,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Methodology &amp; Design Rationale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Aryan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[Student ID]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E, D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Experimental Setup &amp; Training Config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Shawn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[Student ID]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A,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Evaluation Metrics &amp; Analysis Methods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Toh Jun Peng Brandon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[Student ID]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E, V, A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Results &amp; Error Analysis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Lian Ziang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[Student ID]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A,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Limitations &amp; Proposed Improvements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Group No: [Enter Group Number]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2A5F5"/>
                </a:solidFill>
                <a:latin typeface="Calibri"/>
              </a:defRPr>
            </a:pPr>
            <a:r>
              <a:t>Project Background, Aims &amp; Significance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Introduction: 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Background: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Classification is a core supervised learning task in AI/ML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Agriculture increasingly relies on AI for quality control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Automated seed classification reduces manual inspection costs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The Dry Bean Dataset (UCI ML Repository):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- 13,611 samples of 7 dry bean varieties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- 16 features extracted from grain images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Features include shape (area, perimeter, compactness)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and size descriptors (major/minor axis, eccentricity)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Project Aims: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Compare 3 ML algorithms for multi-class bean classification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Evaluate models using accuracy, precision, recall, F1-score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- Identify the best approach for this classification task</a:t>
            </a:r>
          </a:p>
        </p:txBody>
      </p:sp>
      <p:pic>
        <p:nvPicPr>
          <p:cNvPr id="6" name="Picture 5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Introduction: The Dry Bean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Source: UCI Machine Learning Repository (ID: 602)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7 Bean Types (Classes):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SEKER, BARBUNYA, BOMBAY, CALI, HOROZ, SIRA, DERMASON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16 Features (all numeric):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Geometric: Area, Perimeter, MajorAxisLength, MinorAxisLength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Shape: AspectRatio, Eccentricity, ConvexArea, EquivDiameter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Form: Extent, Solidity, roundness, Compactness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Fourier: ShapeFactor1, ShapeFactor2, ShapeFactor3, ShapeFactor4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Total Samples: 13,611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Reference: Koklu, M. and Ozkan, I.A., 2020.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Multiclass classification of dry beans using computer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vision and machine learning techniques.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Computers and Electronics in Agriculture, 174, 105507.</a:t>
            </a:r>
          </a:p>
        </p:txBody>
      </p:sp>
      <p:pic>
        <p:nvPicPr>
          <p:cNvPr id="6" name="Picture 5" descr="feature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7882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2A5F5"/>
                </a:solidFill>
                <a:latin typeface="Calibri"/>
              </a:defRPr>
            </a:pPr>
            <a:r>
              <a:t>Prior Work on Bean Classification &amp; ML Methods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Literature Review: 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Koklu &amp; Ozkan (2020) - Original dataset paper: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Used MLP, SVM, DT, KNN, and other classifiers on this dataset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Achieved ~92% accuracy with MLP (multi-layer perceptron)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Demonstrated computer vision features are effective for bean classification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Singh et al. (2020) - Seed classification survey: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Reviewed ML-based approaches for seed/grain classification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SVM and Random Forest consistently performed well for shape-based features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Feature engineering is critical: shape descriptors outperform raw pixel data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Jain &amp; Kaur (2022) - Comparative study of ML classifiers: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Compared KNN, SVM, RF, NB on agricultural datasets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Ensemble methods (RF) generally outperform single classifiers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SVM with RBF kernel handles non-linear class boundaries well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Key Takeaways from Literature: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Ensemble methods and SVM tend to achieve top performance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Proper preprocessing (scaling, handling class imbalance) is crucial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Cross-validation provides more reliable evaluation than single splits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Literature Review: Algorithm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K-Nearest Neighbours (KNN):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Instance-based learning algorithm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Classifies by majority vote of k nearest neighbours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Uses Euclidean distance as similarity metric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Non-parametric: makes no assumptions about data distribution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Sensitive to feature scaling (requires standardization)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Hyperparameter: k=5 (number of neighbours)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Random Forest: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Ensemble of multiple decision trees (100 trees)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Uses bagging (bootstrap aggregating) for training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Each tree trained on random subset of features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Reduces overfitting through averaging predictions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Provides feature importance scores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Robust to noise and outliers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Support Vector Machine (SVM):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Finds optimal hyperplane to separate classes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Maximizes margin between class boundaries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RBF (Radial Basis Function) kernel used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RBF maps data to higher dimensions for non-linear separation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Hyperparameters: C=10 (regularization), gamma=scale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Effective in high-dimensional feature spaces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Why these 3 models?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KNN: Simple baseline, good for comparison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Random Forest: Best for tabular data, handles correlations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SVM: Strong theoretical foundation, handles non-linearity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All three are well-suited for multi-class classification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Diverse approaches: instance-based, ensemble, kernel-based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3. Our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2A5F5"/>
                </a:solidFill>
                <a:latin typeface="Calibri"/>
              </a:defRPr>
            </a:pPr>
            <a:r>
              <a:t>Approach, Pipeline &amp; Implementation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Method: Classification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1: Data Loading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Loaded Dry Bean dataset from UCI ML Repository (13,611 samples, 16 features)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2: Exploratory Data Analysis (EDA)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Analysed class distribution, feature correlations, and outliers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Generated visualizations: histograms, boxplots, correlation heatmap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3: Data Preprocessing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Checked and handled missing values (median imputation if needed)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Label encoding for the 7 bean classes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- 80/20 stratified train-test split (preserves class proportions)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StandardScaler: zero mean, unit variance normalization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4: Model Training &amp; Evaluation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Trained 3 classifiers: K-Nearest Neighbours (KNN), Random Forest, SVM (RBF kernel)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- 5-fold stratified cross-validation on training set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Evaluated on held-out test set: Accuracy, Precision, Recall, F1-Score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5: Comparison &amp; Analysis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Compared all models; generated confusion matrices; analysed feature importance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Method: Implementation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Tools &amp; Libraries: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Python 3.x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scikit-learn: ML algorithms &amp; evaluation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pandas &amp; numpy: data manipulation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matplotlib &amp; seaborn: visualization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Model Hyperparameters: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KNN: k=5, Euclidean distance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Random Forest: 100 trees, default max_depth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SVM: RBF kernel, C=10, gamma=scale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Evaluation Metrics: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Accuracy: overall correctness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Precision: positive predictive value (weighted)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Recall: sensitivity (weighted)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F1-Score: harmonic mean of precision &amp; recall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- 5-fold stratified cross-validation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Calibri"/>
              </a:defRPr>
            </a:pPr>
            <a:r>
              <a:t>Code Structure: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dry_bean_classification.py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Main pipeline script containing: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1. Dataset loading (UCI / local fallback)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2. EDA &amp; visualization generation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3. Preprocessing (scaling, encoding, split)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4. Model training with cross-validation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5. Evaluation &amp; result comparison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6. Chart generation for presentation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create_slides.py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Automated slide generation script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(this presentation was generated programmatically)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4. 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2A5F5"/>
                </a:solidFill>
                <a:latin typeface="Calibri"/>
              </a:defRPr>
            </a:pPr>
            <a:r>
              <a:t>Experimental Results &amp;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Feature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669971"/>
          </a:xfrm>
          <a:prstGeom prst="rect">
            <a:avLst/>
          </a:prstGeom>
        </p:spPr>
      </p:pic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303520" cy="42428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2179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Feature Correlation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17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Random Forest Feature Importance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Feature Distributions by Bean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486400" cy="3918857"/>
          </a:xfrm>
          <a:prstGeom prst="rect">
            <a:avLst/>
          </a:prstGeom>
        </p:spPr>
      </p:pic>
      <p:pic>
        <p:nvPicPr>
          <p:cNvPr id="6" name="Picture 5" descr="feature_box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486400" cy="391885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Model Performance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Cross-Validation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5-Fold Stratified Cross-Validation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Why cross-validation?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More reliable than single train/test split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Reduces variance in accuracy estimates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Each sample used for both training and testing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Stratified splitting ensures each fold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preserves the class distribution of the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original dataset, preventing bias.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Error bars show standard deviation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across the 5 folds, indicating model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stability and consistency.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Confusion Matrices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Summary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332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1371600"/>
                <a:gridCol w="1371600"/>
                <a:gridCol w="1371600"/>
                <a:gridCol w="137160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CV Accuracy (5-Fold)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 (W)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(W)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 (W)</a:t>
                      </a:r>
                    </a:p>
                  </a:txBody>
                  <a:tcPr>
                    <a:solidFill>
                      <a:srgbClr val="2836B0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K-Nearest Neighbours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0.9233 +/- 0.0046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0.9166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0.9174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0.9166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0.9168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0.9240 +/- 0.0053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SVM (RBF)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0.9336 +/- 0.0053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0.9243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0.9243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0.9243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0.9243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Discussion &amp;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Key Findings: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SVM (RBF) achieved the highest test accuracy among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all three models tested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Random Forest performed similarly to SVM with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slightly lower accuracy but faster training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KNN showed competitive performance but is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computationally expensive at prediction time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All three models achieved &gt;91% test accuracy,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demonstrating the dataset is well-suited for ML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Feature scaling was crucial for KNN and SVM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(distance/kernel-based methods)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Best/Worst Cases: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BOMBAY class: easiest to classify (large, distinctive)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SIRA and DERMASON: most confused with each other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(similar size and shape characteristics)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Feature Importance Insights: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ShapeFactor4 and ShapeFactor2 are among the most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discriminative features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Area-related features (Area, ConvexArea, Perimeter)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are strong predictors for larger bean types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Compactness and roundness help distinguish similarly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sized beans with different shapes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Observations on class imbalance: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Some classes have more samples than others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Stratified splitting ensures fair evaluation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2A5F5"/>
                </a:solidFill>
                <a:latin typeface="Calibri"/>
              </a:defRPr>
            </a:pPr>
            <a:r>
              <a:t>Summary &amp; Future Directions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Summary: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Successfully implemented and compared 3 ML classifiers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on the UCI Dry Bean Dataset (13,611 samples, 7 classes)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SVM (RBF) achieved the best test accuracy at 92.43%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followed closely by Random Forest and Logistic Regression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Proper preprocessing (standardization, stratified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splitting) significantly impacts model performance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Cross-validation confirmed the consistency and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reliability of the top-performing models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Feature analysis revealed that shape factors and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area-related features are the most discriminative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Future Directions: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Hyperparameter tuning via Grid Search or Bayesian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optimization to improve model performance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Feature selection techniques (e.g., PCA, mutual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information) to reduce dimensionality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Explore deep learning approaches (MLP, CNNs) for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potentially higher accuracy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Ensemble stacking: combine top models for improved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prediction robustness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Deploy the best model as a web application for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real-time bean classification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[1] Koklu, M. and Ozkan, I.A., 2020. Multiclass classification of dry beans using computer vision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   and machine learning techniques. Computers and Electronics in Agriculture, 174, 105507.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[2] UCI Machine Learning Repository - Dry Bean Dataset.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   https://archive.ics.uci.edu/ml/datasets/Dry+Bean+Dataset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[3] Pedregosa, F. et al., 2011. Scikit-learn: Machine Learning in Python.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   Journal of Machine Learning Research, 12, pp.2825-2830.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[4] Breiman, L., 2001. Random Forests. Machine Learning, 45(1), pp.5-32.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[5] Cortes, C. and Vapnik, V., 1995. Support-vector networks.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   Machine Learning, 20(3), pp.273-297.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[6] Cover, T. and Hart, P., 1967. Nearest neighbor pattern classification.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   IEEE Transactions on Information Theory, 13(1), pp.21-27.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[7] Singh, D. et al., 2020. Machine learning-based approaches for seed classification: A review.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     Agricultural Systems, 185, 102906.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0"/>
            <a:ext cx="12191695" cy="7315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2A5F5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CSCI218: Foundations of Artificial Intelligence | SIM Session 1,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